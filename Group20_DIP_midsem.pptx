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M8WM3w7vQjIZyxGTU0eOy9dK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HelveticaNeue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5e65c07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85e65c07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f79fa0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f79fa0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5f79fa0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f79fa01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f79fa01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5f79fa01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f25f52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5f25f52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5f25f52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f79fa017_4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85f79fa017_4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28d4cce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b28d4cce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b28d4cce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44150" y="3874808"/>
            <a:ext cx="10515600" cy="2475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Digital Image Watermarking and </a:t>
            </a: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Extraction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4300">
                <a:latin typeface="Times New Roman"/>
                <a:ea typeface="Times New Roman"/>
                <a:cs typeface="Times New Roman"/>
                <a:sym typeface="Times New Roman"/>
              </a:rPr>
              <a:t>Group 20</a:t>
            </a:r>
            <a:endParaRPr b="0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1525" y="462300"/>
            <a:ext cx="47388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1525" y="1855328"/>
            <a:ext cx="5652300" cy="3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watermarking system for image							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or middle frequency coefficients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over Cryptography/Steganography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Embeddings, Detection, Extraction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I: Additive, Substitutive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II: Blinding, Non-blinding watermark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III: Retrieval techniques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825" y="2540313"/>
            <a:ext cx="5138949" cy="17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131600" y="5343050"/>
            <a:ext cx="9928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0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Boujerfaoui, R. Riad, H. Douzi, F. Ros, and R. Harba, “Image Watermarking between Conventional and Learning-Based Techniques: A Literature Review,” Electronics, vol. 12, no. 1, Art. no. 74, Jan. 2023.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582425" y="260350"/>
            <a:ext cx="60426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710250" y="1251000"/>
            <a:ext cx="107715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Hybrid: Spatial + Transformed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Learning Based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Robustness: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30 dB ≤ PSNR ≤ 50 dB: High Fidelity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 &gt; 40 dB: Nearly identical to the human eye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&lt; 30 dB: Visible distortions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IID sequences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drawn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from Gaussian distribution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Retrieval of original image, and number of coefficients involved in watermark extraction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e65c07f4_0_0"/>
          <p:cNvSpPr txBox="1"/>
          <p:nvPr>
            <p:ph type="title"/>
          </p:nvPr>
        </p:nvSpPr>
        <p:spPr>
          <a:xfrm>
            <a:off x="453700" y="586875"/>
            <a:ext cx="44481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g385e65c07f4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g385e65c07f4_0_0"/>
          <p:cNvSpPr txBox="1"/>
          <p:nvPr/>
        </p:nvSpPr>
        <p:spPr>
          <a:xfrm>
            <a:off x="453700" y="1542000"/>
            <a:ext cx="6530400" cy="3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Transformation into frequency domain using Fast Fourier Transform(FFT)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selection for watermark embedding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the watermark by adding the watermark image to the selected coefficients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reconstruction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Fast Fourier Transform(IFFT) of the Image to convert into spatial domain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g385e65c07f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2225" y="2280725"/>
            <a:ext cx="4972575" cy="22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85e65c07f4_0_0"/>
          <p:cNvSpPr txBox="1"/>
          <p:nvPr/>
        </p:nvSpPr>
        <p:spPr>
          <a:xfrm>
            <a:off x="900000" y="5547250"/>
            <a:ext cx="10392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1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C. M. Pun, “PDM: A Novel DFT-Based Digital Watermarking </a:t>
            </a:r>
            <a:r>
              <a:rPr lang="en-US" sz="10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System</a:t>
            </a:r>
            <a:r>
              <a:rPr lang="en-US" sz="11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for Images,” in Proc. 8th Int. Conf. on Signal Processing (ICSP), Beijing, China, 2006.</a:t>
            </a:r>
            <a:endParaRPr sz="25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5f79fa017_0_0"/>
          <p:cNvSpPr txBox="1"/>
          <p:nvPr>
            <p:ph type="title"/>
          </p:nvPr>
        </p:nvSpPr>
        <p:spPr>
          <a:xfrm>
            <a:off x="771200" y="527700"/>
            <a:ext cx="2676900" cy="710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85f79fa017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21" name="Google Shape;121;g385f79fa01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886" y="1597275"/>
            <a:ext cx="3310225" cy="36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85f79fa01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4925" y="1597300"/>
            <a:ext cx="3310225" cy="366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85f79fa017_0_0"/>
          <p:cNvSpPr txBox="1"/>
          <p:nvPr/>
        </p:nvSpPr>
        <p:spPr>
          <a:xfrm>
            <a:off x="771200" y="27210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DFT Watermarking results: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PSNR: 51.68 dB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SSIM: 0.9981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f79fa017_0_1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30" name="Google Shape;130;g385f79fa01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7025" y="3429000"/>
            <a:ext cx="6016376" cy="29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5f79fa017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950" y="409525"/>
            <a:ext cx="5887150" cy="28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f25f5220_0_0"/>
          <p:cNvSpPr txBox="1"/>
          <p:nvPr>
            <p:ph type="title"/>
          </p:nvPr>
        </p:nvSpPr>
        <p:spPr>
          <a:xfrm>
            <a:off x="587375" y="260350"/>
            <a:ext cx="3856200" cy="779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8" name="Google Shape;138;g385f25f5220_0_0"/>
          <p:cNvSpPr txBox="1"/>
          <p:nvPr>
            <p:ph idx="1" type="body"/>
          </p:nvPr>
        </p:nvSpPr>
        <p:spPr>
          <a:xfrm>
            <a:off x="587375" y="1527750"/>
            <a:ext cx="6120300" cy="380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proposed DFT based watermarking: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Keeps image quality high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Is robust against filtering, compression and noise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watermark was embedded in mid to high magnitude DFT coefficients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Effectively balances security, imperceptibility and robustness and hence is suitable in digital media authentication.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85f25f5220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40" name="Google Shape;140;g385f25f522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088" y="945275"/>
            <a:ext cx="2257500" cy="22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85f25f522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5925" y="945275"/>
            <a:ext cx="2143925" cy="22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5f25f522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102" y="3817350"/>
            <a:ext cx="4848648" cy="22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79fa017_4_7"/>
          <p:cNvSpPr txBox="1"/>
          <p:nvPr>
            <p:ph type="title"/>
          </p:nvPr>
        </p:nvSpPr>
        <p:spPr>
          <a:xfrm>
            <a:off x="582425" y="445600"/>
            <a:ext cx="5310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SET OF WORK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85f79fa017_4_7"/>
          <p:cNvSpPr txBox="1"/>
          <p:nvPr>
            <p:ph idx="1" type="body"/>
          </p:nvPr>
        </p:nvSpPr>
        <p:spPr>
          <a:xfrm>
            <a:off x="582425" y="1617450"/>
            <a:ext cx="10515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Implement watermark extraction using inverse DFT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Test robustness against noise, compression, and rotation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Evaluate using PSNR, SSIM, and correlation metrics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Compare DFT, DCT, and DWT techniques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Create a custom dataset and generate result visuals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Perform visual and quantitative validation of extracted watermark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85f79fa017_4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28d4cce1_0_7"/>
          <p:cNvSpPr txBox="1"/>
          <p:nvPr>
            <p:ph type="title"/>
          </p:nvPr>
        </p:nvSpPr>
        <p:spPr>
          <a:xfrm>
            <a:off x="582428" y="-10187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" name="Google Shape;156;g38b28d4cce1_0_7"/>
          <p:cNvSpPr txBox="1"/>
          <p:nvPr>
            <p:ph idx="1" type="body"/>
          </p:nvPr>
        </p:nvSpPr>
        <p:spPr>
          <a:xfrm>
            <a:off x="582427" y="14338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21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Cox, I.J., et al., Secure spread spectrum watermarking for multimedia. IEEE Trans. Image Processing, 1997. 6: p. 1673-1687.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21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Chen, B.; Wornell, G.W. Quantization index modulation: A class of provably good methods for digital watermarking and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information embedding. IEEE Trans. Inf. Theory 2001, 47, 1423–1443.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3. Pardhu, T.; Perli, B.R. Digital image watermarking in frequency domain. In Proceedings of the 2016 International Conference on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Communication and Signal Processing (ICCSP), Tamilnadu, India, 6–8 April 2016; pp. 0208–0211.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4. Darwish, S.M.; Al-Khafaji, L.D.S. Dual watermarking for color images: A new image copyright protection model based on the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fusion of successive and segmented watermarking. Multimed. Tools Appl. 2020, 79, 6503–6530. 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5. Kang, X.; Chen, Y.; Zhao, F.; Lin, G. Multi-dimensional particle swarm optimization for robust blind image watermarking using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intertwining logistic map and hybrid domain. Soft Comput. 2020, 24, 10561–10584.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6. S. Boujerfaoui, R. Riad, H. Douzi, F. Ros, and R. Harba, “Image Watermarking between Conventional and Learning-Based Techniques: A Literature Review,” Electronics, vol. 12, no. 1, Art. no. 74, Jan. 2023.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7. C. M. Pun, “PDM: A Novel DFT-Based Digital Watermarking System for Images,” in Proc. 8th Int. Conf. on Signal Processing (ICSP), Beijing, China, 2006.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8b28d4cce1_0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